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B0B8"/>
          </a:solidFill>
          <a:ln>
            <a:solidFill>
              <a:srgbClr val="1FB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B0B8"/>
                </a:solidFill>
                <a:latin typeface="Aptos"/>
              </a:rPr>
              <a:t>BUSINESS +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Bills &amp; Voucher
Finance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788920"/>
            <a:ext cx="859536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>
                <a:solidFill>
                  <a:srgbClr val="D3E2EF"/>
                </a:solidFill>
                <a:latin typeface="Aptos"/>
              </a:rPr>
              <a:t>GST-ready accounting with intelligent bill scanning, trusted review, and cloud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749039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758183"/>
            <a:ext cx="1508760" cy="2103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GST BILLS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5728" y="3749039"/>
            <a:ext cx="1783080" cy="310896"/>
          </a:xfrm>
          <a:prstGeom prst="roundRect">
            <a:avLst>
              <a:gd name="adj" fmla="val 12000"/>
            </a:avLst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5728" y="3758183"/>
            <a:ext cx="1783080" cy="2103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VOUCHERS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3749039"/>
            <a:ext cx="1828800" cy="310896"/>
          </a:xfrm>
          <a:prstGeom prst="roundRect">
            <a:avLst>
              <a:gd name="adj" fmla="val 12000"/>
            </a:avLst>
          </a:prstGeom>
          <a:solidFill>
            <a:srgbClr val="704DAA"/>
          </a:solidFill>
          <a:ln>
            <a:solidFill>
              <a:srgbClr val="70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3758183"/>
            <a:ext cx="1828800" cy="2103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GEMINI SCAN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3749039"/>
            <a:ext cx="1645920" cy="310896"/>
          </a:xfrm>
          <a:prstGeom prst="roundRect">
            <a:avLst>
              <a:gd name="adj" fmla="val 12000"/>
            </a:avLst>
          </a:prstGeom>
          <a:solidFill>
            <a:srgbClr val="EB8B2D"/>
          </a:solidFill>
          <a:ln>
            <a:solidFill>
              <a:srgbClr val="E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3758183"/>
            <a:ext cx="1645920" cy="2103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GCS + BQ + VECTOR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3749039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1FB0B8"/>
          </a:solidFill>
          <a:ln>
            <a:solidFill>
              <a:srgbClr val="1FB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3758183"/>
            <a:ext cx="1417320" cy="2103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6080760"/>
            <a:ext cx="73152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B4C8DA"/>
                </a:solidFill>
                <a:latin typeface="Aptos"/>
              </a:rPr>
              <a:t>Prepared for product, finance, engineering and GCP stakeholders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080760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0">
                <a:solidFill>
                  <a:srgbClr val="B4C8DA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F70C1"/>
                </a:solidFill>
                <a:latin typeface="Aptos"/>
              </a:rPr>
              <a:t>01  EXECUTIVE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A controlled path from paper bill to trusted finance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62456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The platform turns source documents into reviewable GST records and analytics without bypassing accounting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E5F1FB"/>
          </a:solidFill>
          <a:ln>
            <a:solidFill>
              <a:srgbClr val="E5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03120"/>
            <a:ext cx="32552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F70C1"/>
                </a:solidFill>
                <a:latin typeface="Aptos"/>
              </a:rPr>
              <a:t>THE BUSINESS OUTCOME</a:t>
            </a:r>
          </a:p>
          <a:p>
            <a:pPr>
              <a:spcAft>
                <a:spcPts val="500"/>
              </a:spcAft>
            </a:pPr>
            <a:r>
              <a:rPr sz="2300" b="1">
                <a:solidFill>
                  <a:srgbClr val="0E1F35"/>
                </a:solidFill>
                <a:latin typeface="Aptos"/>
              </a:rPr>
              <a:t>Faster capture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D6D7D"/>
                </a:solidFill>
                <a:latin typeface="Aptos"/>
              </a:rPr>
              <a:t>Less manual typing and fewer posting errors across bills, vouchers and receipts.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201168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E2F7F4"/>
          </a:solidFill>
          <a:ln>
            <a:solidFill>
              <a:srgbClr val="E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32552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08577"/>
                </a:solidFill>
                <a:latin typeface="Aptos"/>
              </a:rPr>
              <a:t>THE CONTROL OUTCOME</a:t>
            </a:r>
          </a:p>
          <a:p>
            <a:pPr>
              <a:spcAft>
                <a:spcPts val="500"/>
              </a:spcAft>
            </a:pPr>
            <a:r>
              <a:rPr sz="2300" b="1">
                <a:solidFill>
                  <a:srgbClr val="0E1F35"/>
                </a:solidFill>
                <a:latin typeface="Aptos"/>
              </a:rPr>
              <a:t>Review before post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D6D7D"/>
                </a:solidFill>
                <a:latin typeface="Aptos"/>
              </a:rPr>
              <a:t>AI proposes fields; accountants approve, correct and then post balanced entries.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201168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FF2E0"/>
          </a:solidFill>
          <a:ln>
            <a:solidFill>
              <a:srgbClr val="FFF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1" y="2103120"/>
            <a:ext cx="32552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EB8B2D"/>
                </a:solidFill>
                <a:latin typeface="Aptos"/>
              </a:rPr>
              <a:t>THE DATA OUTCOME</a:t>
            </a:r>
          </a:p>
          <a:p>
            <a:pPr>
              <a:spcAft>
                <a:spcPts val="500"/>
              </a:spcAft>
            </a:pPr>
            <a:r>
              <a:rPr sz="2300" b="1">
                <a:solidFill>
                  <a:srgbClr val="0E1F35"/>
                </a:solidFill>
                <a:latin typeface="Aptos"/>
              </a:rPr>
              <a:t>One analytical view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D6D7D"/>
                </a:solidFill>
                <a:latin typeface="Aptos"/>
              </a:rPr>
              <a:t>BigQuery is the operational and analytical store; GCS retains source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634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E1F35"/>
                </a:solidFill>
                <a:latin typeface="Aptos"/>
              </a:rPr>
              <a:t>Strategic 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10912"/>
            <a:ext cx="10607040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1">
                <a:solidFill>
                  <a:srgbClr val="0E1F35"/>
                </a:solidFill>
                <a:latin typeface="Aptos"/>
              </a:rPr>
              <a:t>Make every GST document searchable, explainable and auditable—while keeping financial posting deterministic.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D6D7D"/>
                </a:solidFill>
                <a:latin typeface="Aptos"/>
              </a:rPr>
              <a:t>Bills &amp; Voucher Finance  |  GST document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5D6D7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F4949"/>
          </a:solidFill>
          <a:ln>
            <a:solidFill>
              <a:srgbClr val="CF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F4949"/>
                </a:solidFill>
                <a:latin typeface="Aptos"/>
              </a:rPr>
              <a:t>02 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The cost is not only data entry—it is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62456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Finance teams lose time reconciling documents, validating GST fields and finding the source behind a number.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375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3337560" cy="109728"/>
          </a:xfrm>
          <a:prstGeom prst="rect">
            <a:avLst/>
          </a:prstGeom>
          <a:solidFill>
            <a:srgbClr val="CF4949"/>
          </a:solidFill>
          <a:ln>
            <a:solidFill>
              <a:srgbClr val="CF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Manual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283464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D6D7D"/>
                </a:solidFill>
                <a:latin typeface="Aptos"/>
              </a:rPr>
              <a:t>Re-keying vendor, invoice, tax and amount fields creates avoidable effort.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965960"/>
            <a:ext cx="33375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965960"/>
            <a:ext cx="3337560" cy="109728"/>
          </a:xfrm>
          <a:prstGeom prst="rect">
            <a:avLst/>
          </a:prstGeom>
          <a:solidFill>
            <a:srgbClr val="EB8B2D"/>
          </a:solidFill>
          <a:ln>
            <a:solidFill>
              <a:srgbClr val="E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92608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Fragmented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52928"/>
            <a:ext cx="283464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D6D7D"/>
                </a:solidFill>
                <a:latin typeface="Aptos"/>
              </a:rPr>
              <a:t>The original bill, extracted values and posted journal are often disconnected.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965960"/>
            <a:ext cx="33375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965960"/>
            <a:ext cx="3337560" cy="109728"/>
          </a:xfrm>
          <a:prstGeom prst="rect">
            <a:avLst/>
          </a:prstGeom>
          <a:solidFill>
            <a:srgbClr val="704DAA"/>
          </a:solidFill>
          <a:ln>
            <a:solidFill>
              <a:srgbClr val="70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331720"/>
            <a:ext cx="292608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Late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52928"/>
            <a:ext cx="283464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D6D7D"/>
                </a:solidFill>
                <a:latin typeface="Aptos"/>
              </a:rPr>
              <a:t>Analytics arrives after reconciliation, making exceptions harder to act 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1069848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F70C1"/>
                </a:solidFill>
                <a:latin typeface="Aptos"/>
              </a:rPr>
              <a:t>Opportunity: create a repeatable “capture → review → post → analyze” operating model for every document.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D6D7D"/>
                </a:solidFill>
                <a:latin typeface="Aptos"/>
              </a:rPr>
              <a:t>Bills &amp; Voucher Finance  |  GST document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5D6D7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8577"/>
                </a:solidFill>
                <a:latin typeface="Aptos"/>
              </a:rPr>
              <a:t>03  PRODUCT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A finance control plane for GST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62456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The product combines accounting discipline with multimodal extraction and cloud-native evidence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92024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22494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276856"/>
            <a:ext cx="384048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788920"/>
            <a:ext cx="1600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182112"/>
            <a:ext cx="16002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D6D7D"/>
                </a:solidFill>
                <a:latin typeface="Aptos"/>
              </a:rPr>
              <a:t>Upload bill, voucher, invoice or receipt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78608" y="3017520"/>
            <a:ext cx="283464" cy="0"/>
          </a:xfrm>
          <a:prstGeom prst="line">
            <a:avLst/>
          </a:prstGeom>
          <a:ln w="25400">
            <a:solidFill>
              <a:srgbClr val="AA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26080" y="2057400"/>
            <a:ext cx="192024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72384" y="22494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704DAA"/>
          </a:solidFill>
          <a:ln>
            <a:solidFill>
              <a:srgbClr val="70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2384" y="2276856"/>
            <a:ext cx="384048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2788920"/>
            <a:ext cx="1600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Understand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3182112"/>
            <a:ext cx="16002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D6D7D"/>
                </a:solidFill>
                <a:latin typeface="Aptos"/>
              </a:rPr>
              <a:t>Gemini extracts GST fields and line items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64608" y="3017520"/>
            <a:ext cx="283464" cy="0"/>
          </a:xfrm>
          <a:prstGeom prst="line">
            <a:avLst/>
          </a:prstGeom>
          <a:ln w="25400">
            <a:solidFill>
              <a:srgbClr val="AA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12080" y="2057400"/>
            <a:ext cx="192024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58384" y="22494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EB8B2D"/>
          </a:solidFill>
          <a:ln>
            <a:solidFill>
              <a:srgbClr val="E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8384" y="2276856"/>
            <a:ext cx="384048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788920"/>
            <a:ext cx="1600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182112"/>
            <a:ext cx="16002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D6D7D"/>
                </a:solidFill>
                <a:latin typeface="Aptos"/>
              </a:rPr>
              <a:t>Accountant validates exceptions and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50608" y="3017520"/>
            <a:ext cx="283464" cy="0"/>
          </a:xfrm>
          <a:prstGeom prst="line">
            <a:avLst/>
          </a:prstGeom>
          <a:ln w="25400">
            <a:solidFill>
              <a:srgbClr val="AA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98079" y="2057400"/>
            <a:ext cx="192024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44383" y="22494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44383" y="2276856"/>
            <a:ext cx="384048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3" y="2788920"/>
            <a:ext cx="1600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3" y="3182112"/>
            <a:ext cx="16002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D6D7D"/>
                </a:solidFill>
                <a:latin typeface="Aptos"/>
              </a:rPr>
              <a:t>Balanced double-entry journal is created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017520"/>
            <a:ext cx="283464" cy="0"/>
          </a:xfrm>
          <a:prstGeom prst="line">
            <a:avLst/>
          </a:prstGeom>
          <a:ln w="25400">
            <a:solidFill>
              <a:srgbClr val="AA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84080" y="2057400"/>
            <a:ext cx="192024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30384" y="22494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B0B8"/>
          </a:solidFill>
          <a:ln>
            <a:solidFill>
              <a:srgbClr val="1FB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0384" y="2276856"/>
            <a:ext cx="384048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0384" y="2788920"/>
            <a:ext cx="1600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Analyze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0384" y="3182112"/>
            <a:ext cx="16002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D6D7D"/>
                </a:solidFill>
                <a:latin typeface="Aptos"/>
              </a:rPr>
              <a:t>BigQuery powers reports and cross-source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800600"/>
            <a:ext cx="10607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>
                <a:solidFill>
                  <a:srgbClr val="0E1F35"/>
                </a:solidFill>
                <a:latin typeface="Aptos"/>
              </a:rPr>
              <a:t>Design principle: AI assists the workflow; the accounting system remains the system of record for financial truth.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D6D7D"/>
                </a:solidFill>
                <a:latin typeface="Aptos"/>
              </a:rPr>
              <a:t>Bills &amp; Voucher Finance  |  GST document intelligence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5D6D7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F70C1"/>
                </a:solidFill>
                <a:latin typeface="Aptos"/>
              </a:rPr>
              <a:t>04  USERS AND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Every role sees the same evidence, with different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62456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Role-based access keeps capture fast while preserving review and posting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146304" cy="713232"/>
          </a:xfrm>
          <a:prstGeom prst="rect">
            <a:avLst/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79"/>
            <a:ext cx="256032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E1F35"/>
                </a:solidFill>
                <a:latin typeface="Aptos"/>
              </a:rPr>
              <a:t>AP /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02536"/>
            <a:ext cx="7360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Uploads source documents; tracks processing status; resolves missing metadata.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39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834639"/>
            <a:ext cx="146304" cy="713232"/>
          </a:xfrm>
          <a:prstGeom prst="rect">
            <a:avLst/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971799"/>
            <a:ext cx="256032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E1F35"/>
                </a:solidFill>
                <a:latin typeface="Aptos"/>
              </a:rPr>
              <a:t>Accountant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62656"/>
            <a:ext cx="7360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Reviews GST extraction; corrects fields; approves and posts balanced journals.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94760"/>
            <a:ext cx="146304" cy="713232"/>
          </a:xfrm>
          <a:prstGeom prst="rect">
            <a:avLst/>
          </a:prstGeom>
          <a:solidFill>
            <a:srgbClr val="EB8B2D"/>
          </a:solidFill>
          <a:ln>
            <a:solidFill>
              <a:srgbClr val="E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931920"/>
            <a:ext cx="256032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E1F35"/>
                </a:solidFill>
                <a:latin typeface="Aptos"/>
              </a:rPr>
              <a:t>Finance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22776"/>
            <a:ext cx="7360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Monitors reports, exceptions, vendor trends and audit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46304" cy="713232"/>
          </a:xfrm>
          <a:prstGeom prst="rect">
            <a:avLst/>
          </a:prstGeom>
          <a:solidFill>
            <a:srgbClr val="704DAA"/>
          </a:solidFill>
          <a:ln>
            <a:solidFill>
              <a:srgbClr val="70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892040"/>
            <a:ext cx="256032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E1F35"/>
                </a:solidFill>
                <a:latin typeface="Aptos"/>
              </a:rPr>
              <a:t>Admin / Auditor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882896"/>
            <a:ext cx="7360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Manages access, chart of accounts, configuration and audit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97880"/>
            <a:ext cx="106070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F4949"/>
                </a:solidFill>
                <a:latin typeface="Aptos"/>
              </a:rPr>
              <a:t>Permission model: Admin / Accountant / Viewer; viewers remain read-only.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D6D7D"/>
                </a:solidFill>
                <a:latin typeface="Aptos"/>
              </a:rPr>
              <a:t>Bills &amp; Voucher Finance  |  GST document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5D6D7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8577"/>
                </a:solidFill>
                <a:latin typeface="Aptos"/>
              </a:rPr>
              <a:t>05  GST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Designed for the fields finance teams actually reconcile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62456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Structured extraction makes taxes visible and reviewable instead of burying them in OCR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49834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4983480" cy="91440"/>
          </a:xfrm>
          <a:prstGeom prst="rect">
            <a:avLst/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4805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E1F35"/>
                </a:solidFill>
                <a:latin typeface="Aptos"/>
              </a:rPr>
              <a:t>Document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480560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Bill / voucher / invoice / receipt
Vendor, invoice number, 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49834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4983480" cy="91440"/>
          </a:xfrm>
          <a:prstGeom prst="rect">
            <a:avLst/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4805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E1F35"/>
                </a:solidFill>
                <a:latin typeface="Aptos"/>
              </a:rPr>
              <a:t>Tax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14600"/>
            <a:ext cx="4480560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GSTIN
CGST, SGST, IGST, total tax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49834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74720"/>
            <a:ext cx="4983480" cy="91440"/>
          </a:xfrm>
          <a:prstGeom prst="rect">
            <a:avLst/>
          </a:prstGeom>
          <a:solidFill>
            <a:srgbClr val="EB8B2D"/>
          </a:solidFill>
          <a:ln>
            <a:solidFill>
              <a:srgbClr val="E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44805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E1F35"/>
                </a:solidFill>
                <a:latin typeface="Aptos"/>
              </a:rPr>
              <a:t>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14800"/>
            <a:ext cx="4480560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Subtotal, discount, total
INR currency and payment method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49834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74720"/>
            <a:ext cx="4983480" cy="91440"/>
          </a:xfrm>
          <a:prstGeom prst="rect">
            <a:avLst/>
          </a:prstGeom>
          <a:solidFill>
            <a:srgbClr val="704DAA"/>
          </a:solidFill>
          <a:ln>
            <a:solidFill>
              <a:srgbClr val="70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03320"/>
            <a:ext cx="44805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E1F35"/>
                </a:solidFill>
                <a:latin typeface="Aptos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480560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Original file in private GCS
OCR text, status,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>
                <a:solidFill>
                  <a:srgbClr val="CF4949"/>
                </a:solidFill>
                <a:latin typeface="Aptos"/>
              </a:rPr>
              <a:t>Human review is mandatory before approval; missing or inconsistent fields remain visible as exceptions.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D6D7D"/>
                </a:solidFill>
                <a:latin typeface="Aptos"/>
              </a:rPr>
              <a:t>Bills &amp; Voucher Finance  |  GST document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5D6D7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8B2D"/>
          </a:solidFill>
          <a:ln>
            <a:solidFill>
              <a:srgbClr val="E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EB8B2D"/>
                </a:solidFill>
                <a:latin typeface="Aptos"/>
              </a:rPr>
              <a:t>06  VALUE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Measure the platform on throughput, accuracy and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62456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The KPI framework connects operational improvements to finance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468880" cy="1920240"/>
          </a:xfrm>
          <a:prstGeom prst="roundRect">
            <a:avLst>
              <a:gd name="adj" fmla="val 12000"/>
            </a:avLst>
          </a:prstGeom>
          <a:solidFill>
            <a:srgbClr val="E5F1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267712"/>
            <a:ext cx="2103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Cycle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852928"/>
            <a:ext cx="2057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Upload to review-ready document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" y="3593592"/>
            <a:ext cx="1005840" cy="73152"/>
          </a:xfrm>
          <a:prstGeom prst="rect">
            <a:avLst/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965960"/>
            <a:ext cx="24688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267712"/>
            <a:ext cx="2103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Touchless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852928"/>
            <a:ext cx="2057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Documents needing no field correction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39312" y="3593592"/>
            <a:ext cx="1005840" cy="73152"/>
          </a:xfrm>
          <a:prstGeom prst="rect">
            <a:avLst/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965960"/>
            <a:ext cx="24688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2267712"/>
            <a:ext cx="2103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Exception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852928"/>
            <a:ext cx="2057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GST or total mismatches requiring 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28231" y="3593592"/>
            <a:ext cx="1005840" cy="73152"/>
          </a:xfrm>
          <a:prstGeom prst="rect">
            <a:avLst/>
          </a:prstGeom>
          <a:solidFill>
            <a:srgbClr val="CF4949"/>
          </a:solidFill>
          <a:ln>
            <a:solidFill>
              <a:srgbClr val="CF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59" y="1965960"/>
            <a:ext cx="24688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1" y="2267712"/>
            <a:ext cx="2103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Close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1" y="2852928"/>
            <a:ext cx="2057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Approved documents available before cutoff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17151" y="3593592"/>
            <a:ext cx="1005840" cy="73152"/>
          </a:xfrm>
          <a:prstGeom prst="rect">
            <a:avLst/>
          </a:prstGeom>
          <a:solidFill>
            <a:srgbClr val="704DAA"/>
          </a:solidFill>
          <a:ln>
            <a:solidFill>
              <a:srgbClr val="70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09160"/>
            <a:ext cx="1060704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>
                <a:solidFill>
                  <a:srgbClr val="EB8B2D"/>
                </a:solidFill>
                <a:latin typeface="Aptos"/>
              </a:rPr>
              <a:t>Business hypothesis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74920"/>
            <a:ext cx="10607040" cy="6583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300" b="1">
                <a:solidFill>
                  <a:srgbClr val="0E1F35"/>
                </a:solidFill>
                <a:latin typeface="Aptos"/>
              </a:rPr>
              <a:t>Automation creates capacity for exception handling and analysis—not merely faster data entry.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D6D7D"/>
                </a:solidFill>
                <a:latin typeface="Aptos"/>
              </a:rPr>
              <a:t>Bills &amp; Voucher Finance  |  GST document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5D6D7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F70C1"/>
                </a:solidFill>
                <a:latin typeface="Aptos"/>
              </a:rPr>
              <a:t>07 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The document lifecycle is explicit and recoverable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62456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Statuses make progress, failure and review responsibility visible to users and operators.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600200" cy="658368"/>
          </a:xfrm>
          <a:prstGeom prst="roundRect">
            <a:avLst>
              <a:gd name="adj" fmla="val 12000"/>
            </a:avLst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16002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Uploaded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59152" y="2660904"/>
            <a:ext cx="521208" cy="0"/>
          </a:xfrm>
          <a:prstGeom prst="line">
            <a:avLst/>
          </a:prstGeom>
          <a:ln w="25400">
            <a:solidFill>
              <a:srgbClr val="A0AD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2331720"/>
            <a:ext cx="1600200" cy="658368"/>
          </a:xfrm>
          <a:prstGeom prst="roundRect">
            <a:avLst>
              <a:gd name="adj" fmla="val 12000"/>
            </a:avLst>
          </a:prstGeom>
          <a:solidFill>
            <a:srgbClr val="704DAA"/>
          </a:solidFill>
          <a:ln>
            <a:solidFill>
              <a:srgbClr val="70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487168"/>
            <a:ext cx="16002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Processing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99432" y="2660904"/>
            <a:ext cx="521208" cy="0"/>
          </a:xfrm>
          <a:prstGeom prst="line">
            <a:avLst/>
          </a:prstGeom>
          <a:ln w="25400">
            <a:solidFill>
              <a:srgbClr val="A0AD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12080" y="2331720"/>
            <a:ext cx="1600200" cy="658368"/>
          </a:xfrm>
          <a:prstGeom prst="roundRect">
            <a:avLst>
              <a:gd name="adj" fmla="val 12000"/>
            </a:avLst>
          </a:prstGeom>
          <a:solidFill>
            <a:srgbClr val="EB8B2D"/>
          </a:solidFill>
          <a:ln>
            <a:solidFill>
              <a:srgbClr val="E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487168"/>
            <a:ext cx="16002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Needs review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39712" y="2660904"/>
            <a:ext cx="521208" cy="0"/>
          </a:xfrm>
          <a:prstGeom prst="line">
            <a:avLst/>
          </a:prstGeom>
          <a:ln w="25400">
            <a:solidFill>
              <a:srgbClr val="A0AD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52360" y="2331720"/>
            <a:ext cx="1600200" cy="658368"/>
          </a:xfrm>
          <a:prstGeom prst="roundRect">
            <a:avLst>
              <a:gd name="adj" fmla="val 12000"/>
            </a:avLst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487168"/>
            <a:ext cx="16002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Approved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79992" y="2660904"/>
            <a:ext cx="521208" cy="0"/>
          </a:xfrm>
          <a:prstGeom prst="line">
            <a:avLst/>
          </a:prstGeom>
          <a:ln w="25400">
            <a:solidFill>
              <a:srgbClr val="A0AD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92640" y="2331720"/>
            <a:ext cx="1600200" cy="658368"/>
          </a:xfrm>
          <a:prstGeom prst="roundRect">
            <a:avLst>
              <a:gd name="adj" fmla="val 12000"/>
            </a:avLst>
          </a:prstGeom>
          <a:solidFill>
            <a:srgbClr val="2D9B5F"/>
          </a:solidFill>
          <a:ln>
            <a:solidFill>
              <a:srgbClr val="2D9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487168"/>
            <a:ext cx="16002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Posted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3840480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CF4949"/>
          </a:solidFill>
          <a:ln>
            <a:solidFill>
              <a:srgbClr val="CF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3977639"/>
            <a:ext cx="18288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Failed / retry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1527048" y="3035808"/>
            <a:ext cx="2331720" cy="786383"/>
          </a:xfrm>
          <a:prstGeom prst="line">
            <a:avLst/>
          </a:prstGeom>
          <a:ln w="19050">
            <a:solidFill>
              <a:srgbClr val="CF4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4846320"/>
            <a:ext cx="10607040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E1F35"/>
                </a:solidFill>
                <a:latin typeface="Aptos"/>
              </a:rPr>
              <a:t>At every stage: retain the original GCS URI, update audit logs, and avoid posting until the extracted values are reviewed.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D6D7D"/>
                </a:solidFill>
                <a:latin typeface="Aptos"/>
              </a:rPr>
              <a:t>Bills &amp; Voucher Finance  |  GST document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5D6D7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F70C1"/>
                </a:solidFill>
                <a:latin typeface="Aptos"/>
              </a:rPr>
              <a:t>08 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BigQuery-first evidence, deterministic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62456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Private storage and analytical separation support scale without compromising the operational ledger.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E5F1FB"/>
          </a:solidFill>
          <a:ln>
            <a:solidFill>
              <a:srgbClr val="E5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29968"/>
            <a:ext cx="18288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70C1"/>
                </a:solidFill>
                <a:latin typeface="Aptos"/>
              </a:rPr>
              <a:t>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938528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2029968"/>
            <a:ext cx="1106424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E1F35"/>
                </a:solidFill>
                <a:latin typeface="Aptos"/>
              </a:rPr>
              <a:t>Web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38528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029968"/>
            <a:ext cx="1106424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E1F35"/>
                </a:solidFill>
                <a:latin typeface="Aptos"/>
              </a:rPr>
              <a:t>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38528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29968"/>
            <a:ext cx="1106424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E1F35"/>
                </a:solidFill>
                <a:latin typeface="Aptos"/>
              </a:rPr>
              <a:t>Role-based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938528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2029968"/>
            <a:ext cx="1106424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E1F35"/>
                </a:solidFill>
                <a:latin typeface="Aptos"/>
              </a:rPr>
              <a:t>Review queue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61488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E2F7F4"/>
          </a:solidFill>
          <a:ln>
            <a:solidFill>
              <a:srgbClr val="E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90672"/>
            <a:ext cx="18288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08577"/>
                </a:solidFill>
                <a:latin typeface="Aptos"/>
              </a:rPr>
              <a:t>INTELLIGENCE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889504"/>
            <a:ext cx="14173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70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2928" y="2980944"/>
            <a:ext cx="11978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E1F35"/>
                </a:solidFill>
                <a:latin typeface="Aptos"/>
              </a:rPr>
              <a:t>Gemini 3.8
Flash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889504"/>
            <a:ext cx="14173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4608" y="2980944"/>
            <a:ext cx="11978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E1F35"/>
                </a:solidFill>
                <a:latin typeface="Aptos"/>
              </a:rPr>
              <a:t>GST schema
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2889504"/>
            <a:ext cx="14173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2980944"/>
            <a:ext cx="11978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E1F35"/>
                </a:solidFill>
                <a:latin typeface="Aptos"/>
              </a:rPr>
              <a:t>Exception
handling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2889504"/>
            <a:ext cx="14173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1FB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7" y="2980944"/>
            <a:ext cx="11978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E1F35"/>
                </a:solidFill>
                <a:latin typeface="Aptos"/>
              </a:rPr>
              <a:t>MCP source
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005072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FFF2E0"/>
          </a:solidFill>
          <a:ln>
            <a:solidFill>
              <a:srgbClr val="FFF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334256"/>
            <a:ext cx="18288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B8B2D"/>
                </a:solidFill>
                <a:latin typeface="Aptos"/>
              </a:rPr>
              <a:t>DATA +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133087"/>
            <a:ext cx="14173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52928" y="4224527"/>
            <a:ext cx="11978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E1F35"/>
                </a:solidFill>
                <a:latin typeface="Aptos"/>
              </a:rPr>
              <a:t>BigQuery
ledger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4133087"/>
            <a:ext cx="14173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4608" y="4224527"/>
            <a:ext cx="11978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E1F35"/>
                </a:solidFill>
                <a:latin typeface="Aptos"/>
              </a:rPr>
              <a:t>Private GCS
originals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4133087"/>
            <a:ext cx="14173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6288" y="4224527"/>
            <a:ext cx="11978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E1F35"/>
                </a:solidFill>
                <a:latin typeface="Aptos"/>
              </a:rPr>
              <a:t>BigQuery
analytics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133087"/>
            <a:ext cx="14173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87967" y="4224527"/>
            <a:ext cx="11978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E1F35"/>
                </a:solidFill>
                <a:latin typeface="Aptos"/>
              </a:rPr>
              <a:t>Audit logs
+ IAM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0" y="2560320"/>
            <a:ext cx="0" cy="182880"/>
          </a:xfrm>
          <a:prstGeom prst="line">
            <a:avLst/>
          </a:prstGeom>
          <a:ln w="25400">
            <a:solidFill>
              <a:srgbClr val="1F7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486400" y="3785615"/>
            <a:ext cx="0" cy="201169"/>
          </a:xfrm>
          <a:prstGeom prst="line">
            <a:avLst/>
          </a:prstGeom>
          <a:ln w="25400">
            <a:solidFill>
              <a:srgbClr val="008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486400" y="5029200"/>
            <a:ext cx="0" cy="457200"/>
          </a:xfrm>
          <a:prstGeom prst="line">
            <a:avLst/>
          </a:prstGeom>
          <a:ln w="25400">
            <a:solidFill>
              <a:srgbClr val="EB8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7240" y="562356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Cloud Run hosts the API; Terraform provisions the GCP foundation.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D6D7D"/>
                </a:solidFill>
                <a:latin typeface="Aptos"/>
              </a:rPr>
              <a:t>Bills &amp; Voucher Finance  |  GST document intelligence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5D6D7D"/>
                </a:solidFill>
                <a:latin typeface="Aptos"/>
              </a:rPr>
              <a:t>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26880" y="475488"/>
            <a:ext cx="2148840" cy="310896"/>
          </a:xfrm>
          <a:prstGeom prst="roundRect">
            <a:avLst/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BIGQUERY-ONLY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04DAA"/>
          </a:solidFill>
          <a:ln>
            <a:solidFill>
              <a:srgbClr val="70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04DAA"/>
                </a:solidFill>
                <a:latin typeface="Aptos"/>
              </a:rPr>
              <a:t>09  INTELLIGENT DOCUMENT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Gemini extracts; embeddings retrieve; accounting rules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62456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Multimodal input handles JPG, PNG and PDF while structured output maps directly to review fields.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02336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47088"/>
            <a:ext cx="21031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E1F35"/>
                </a:solidFill>
                <a:latin typeface="Aptos"/>
              </a:rPr>
              <a:t>GCS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856231"/>
            <a:ext cx="65836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Checksum + MIME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42032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704DAA"/>
          </a:solidFill>
          <a:ln>
            <a:solidFill>
              <a:srgbClr val="70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33472"/>
            <a:ext cx="402336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60320"/>
            <a:ext cx="21031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E1F35"/>
                </a:solidFill>
                <a:latin typeface="Aptos"/>
              </a:rPr>
              <a:t>Gemini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569464"/>
            <a:ext cx="65836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Inline document bytes + GST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55264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46704"/>
            <a:ext cx="402336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73552"/>
            <a:ext cx="21031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E1F35"/>
                </a:solidFill>
                <a:latin typeface="Aptos"/>
              </a:rPr>
              <a:t>Structured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282696"/>
            <a:ext cx="65836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Typed extraction: taxes, totals, 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68496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EB8B2D"/>
          </a:solidFill>
          <a:ln>
            <a:solidFill>
              <a:srgbClr val="E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59935"/>
            <a:ext cx="402336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86783"/>
            <a:ext cx="21031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E1F35"/>
                </a:solidFill>
                <a:latin typeface="Aptos"/>
              </a:rPr>
              <a:t>Persistence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995928"/>
            <a:ext cx="65836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BigQuery extraction +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81728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1FB0B8"/>
          </a:solidFill>
          <a:ln>
            <a:solidFill>
              <a:srgbClr val="1FB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73168"/>
            <a:ext cx="402336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700016"/>
            <a:ext cx="21031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E1F35"/>
                </a:solidFill>
                <a:latin typeface="Aptos"/>
              </a:rPr>
              <a:t>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709160"/>
            <a:ext cx="65836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Idempotent BigQuery row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23560"/>
            <a:ext cx="1042416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>
                <a:solidFill>
                  <a:srgbClr val="CF4949"/>
                </a:solidFill>
                <a:latin typeface="Aptos"/>
              </a:rPr>
              <a:t>Guardrail: AI output is never treated as a posted journal until a permitted user reviews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D6D7D"/>
                </a:solidFill>
                <a:latin typeface="Aptos"/>
              </a:rPr>
              <a:t>Bills &amp; Voucher Finance  |  GST document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5D6D7D"/>
                </a:solidFill>
                <a:latin typeface="Aptos"/>
              </a:rPr>
              <a:t>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475488"/>
            <a:ext cx="2148840" cy="310896"/>
          </a:xfrm>
          <a:prstGeom prst="roundRect">
            <a:avLst/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BIGQUERY-ONLY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8577"/>
                </a:solidFill>
                <a:latin typeface="Aptos"/>
              </a:rPr>
              <a:t>10  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One data platform, clear table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62456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The ledger, evidence store and analytics warehouse each have a clear contract.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3756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3337560" cy="128016"/>
          </a:xfrm>
          <a:prstGeom prst="rect">
            <a:avLst/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92608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BigQuery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70C1"/>
                </a:solidFill>
                <a:latin typeface="Aptos"/>
              </a:rPr>
              <a:t>System of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2788920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Users, accounts, journal entries, documents, extractions, audit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74519"/>
            <a:ext cx="333756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74519"/>
            <a:ext cx="3337560" cy="128016"/>
          </a:xfrm>
          <a:prstGeom prst="rect">
            <a:avLst/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80"/>
            <a:ext cx="292608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Cloud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08577"/>
                </a:solidFill>
                <a:latin typeface="Aptos"/>
              </a:rPr>
              <a:t>Evidence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337560"/>
            <a:ext cx="2788920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Private original files; uniform bucket access; public access prevention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874519"/>
            <a:ext cx="333756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874519"/>
            <a:ext cx="3337560" cy="128016"/>
          </a:xfrm>
          <a:prstGeom prst="rect">
            <a:avLst/>
          </a:prstGeom>
          <a:solidFill>
            <a:srgbClr val="EB8B2D"/>
          </a:solidFill>
          <a:ln>
            <a:solidFill>
              <a:srgbClr val="E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2240280"/>
            <a:ext cx="292608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BigQuery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2788920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EB8B2D"/>
                </a:solidFill>
                <a:latin typeface="Aptos"/>
              </a:rPr>
              <a:t>Analytics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3337560"/>
            <a:ext cx="2788920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Partitioned extraction facts; NUMERIC financial fields; reporting and trends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50791" y="3246120"/>
            <a:ext cx="173737" cy="0"/>
          </a:xfrm>
          <a:prstGeom prst="line">
            <a:avLst/>
          </a:prstGeom>
          <a:ln w="25400">
            <a:solidFill>
              <a:srgbClr val="1F7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99831" y="3246120"/>
            <a:ext cx="173737" cy="0"/>
          </a:xfrm>
          <a:prstGeom prst="line">
            <a:avLst/>
          </a:prstGeom>
          <a:ln w="25400">
            <a:solidFill>
              <a:srgbClr val="EB8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5212080"/>
            <a:ext cx="105156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1">
                <a:solidFill>
                  <a:srgbClr val="0E1F35"/>
                </a:solidFill>
                <a:latin typeface="Aptos"/>
              </a:rPr>
              <a:t>Contract: database truth → evidence URI → analytics projection.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D6D7D"/>
                </a:solidFill>
                <a:latin typeface="Aptos"/>
              </a:rPr>
              <a:t>Bills &amp; Voucher Finance  |  GST document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5D6D7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B0B8"/>
          </a:solidFill>
          <a:ln>
            <a:solidFill>
              <a:srgbClr val="1FB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FB0B8"/>
                </a:solidFill>
                <a:latin typeface="Aptos"/>
              </a:rPr>
              <a:t>11  MCP AND CROSS-SOURCE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Connect assistants to governed finance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62456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MCP gives an assistant a controlled interface to search records and query analytics without exposing write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286000" cy="1143000"/>
          </a:xfrm>
          <a:prstGeom prst="roundRect">
            <a:avLst>
              <a:gd name="adj" fmla="val 12000"/>
            </a:avLst>
          </a:prstGeom>
          <a:solidFill>
            <a:srgbClr val="E5F1FB"/>
          </a:solidFill>
          <a:ln>
            <a:solidFill>
              <a:srgbClr val="E5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19202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0E1F35"/>
                </a:solidFill>
                <a:latin typeface="Aptos"/>
              </a:rPr>
              <a:t>Finance user / assistant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011680"/>
            <a:ext cx="2834640" cy="1143000"/>
          </a:xfrm>
          <a:prstGeom prst="roundRect">
            <a:avLst>
              <a:gd name="adj" fmla="val 12000"/>
            </a:avLst>
          </a:prstGeom>
          <a:solidFill>
            <a:srgbClr val="E2F7F4"/>
          </a:solidFill>
          <a:ln>
            <a:solidFill>
              <a:srgbClr val="E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221992"/>
            <a:ext cx="2468880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008577"/>
                </a:solidFill>
                <a:latin typeface="Aptos"/>
              </a:rPr>
              <a:t>MCP server
read-only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691640"/>
            <a:ext cx="20574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1901952"/>
            <a:ext cx="178308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F70C1"/>
                </a:solidFill>
                <a:latin typeface="Aptos"/>
              </a:rPr>
              <a:t>BigQuery
document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926080"/>
            <a:ext cx="20574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36392"/>
            <a:ext cx="178308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EB8B2D"/>
                </a:solidFill>
                <a:latin typeface="Aptos"/>
              </a:rPr>
              <a:t>BigQuery
analytics query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0" y="2578608"/>
            <a:ext cx="1508760" cy="0"/>
          </a:xfrm>
          <a:prstGeom prst="line">
            <a:avLst/>
          </a:prstGeom>
          <a:ln w="25400">
            <a:solidFill>
              <a:srgbClr val="1F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498079" y="2057400"/>
            <a:ext cx="1572769" cy="182880"/>
          </a:xfrm>
          <a:prstGeom prst="line">
            <a:avLst/>
          </a:prstGeom>
          <a:ln w="25400">
            <a:solidFill>
              <a:srgbClr val="1F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98079" y="2971800"/>
            <a:ext cx="1572769" cy="347472"/>
          </a:xfrm>
          <a:prstGeom prst="line">
            <a:avLst/>
          </a:prstGeom>
          <a:ln w="25400">
            <a:solidFill>
              <a:srgbClr val="1F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4160520"/>
            <a:ext cx="103327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B0B8"/>
                </a:solidFill>
                <a:latin typeface="Aptos"/>
              </a:rPr>
              <a:t>Tools included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26864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1FB0B8"/>
          </a:solidFill>
          <a:ln>
            <a:solidFill>
              <a:srgbClr val="1FB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572000"/>
            <a:ext cx="9857232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F2B38"/>
                </a:solidFill>
                <a:latin typeface="Aptos"/>
              </a:rPr>
              <a:t>search_documents: vendor, invoice, GSTIN, total and GCS evidence URI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102351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1FB0B8"/>
          </a:solidFill>
          <a:ln>
            <a:solidFill>
              <a:srgbClr val="1FB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5047488"/>
            <a:ext cx="9857232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F2B38"/>
                </a:solidFill>
                <a:latin typeface="Aptos"/>
              </a:rPr>
              <a:t>query_bigquery: SELECT/WITH only, bounded result size, no mutation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D6D7D"/>
                </a:solidFill>
                <a:latin typeface="Aptos"/>
              </a:rPr>
              <a:t>Bills &amp; Voucher Finance  |  GST document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5D6D7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F4949"/>
          </a:solidFill>
          <a:ln>
            <a:solidFill>
              <a:srgbClr val="CF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F4949"/>
                </a:solidFill>
                <a:latin typeface="Aptos"/>
              </a:rPr>
              <a:t>12  SECURITY, COMPLIANCE AND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Trust is designed into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62456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The platform protects financial data through least privilege, evidence retention and explicit approval gates.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10561320" cy="612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508760" cy="612648"/>
          </a:xfrm>
          <a:prstGeom prst="roundRect">
            <a:avLst>
              <a:gd name="adj" fmla="val 12000"/>
            </a:avLst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56816"/>
            <a:ext cx="13716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20240"/>
            <a:ext cx="8412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Session authentication, bcrypt password hashing, role-based authorization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87752"/>
            <a:ext cx="10561320" cy="612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587752"/>
            <a:ext cx="1508760" cy="612648"/>
          </a:xfrm>
          <a:prstGeom prst="roundRect">
            <a:avLst>
              <a:gd name="adj" fmla="val 12000"/>
            </a:avLst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761488"/>
            <a:ext cx="13716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724912"/>
            <a:ext cx="8412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Private GCS bucket, uniform bucket-level access, public access prevention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92424"/>
            <a:ext cx="10561320" cy="612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392424"/>
            <a:ext cx="1508760" cy="612648"/>
          </a:xfrm>
          <a:prstGeom prst="roundRect">
            <a:avLst>
              <a:gd name="adj" fmla="val 12000"/>
            </a:avLst>
          </a:prstGeom>
          <a:solidFill>
            <a:srgbClr val="EB8B2D"/>
          </a:solidFill>
          <a:ln>
            <a:solidFill>
              <a:srgbClr val="E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566160"/>
            <a:ext cx="13716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529584"/>
            <a:ext cx="8412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BigQuery operational ledger; BigQuery NUMERIC for money; partitioned analytics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97096"/>
            <a:ext cx="10561320" cy="612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197096"/>
            <a:ext cx="1508760" cy="612648"/>
          </a:xfrm>
          <a:prstGeom prst="roundRect">
            <a:avLst>
              <a:gd name="adj" fmla="val 12000"/>
            </a:avLst>
          </a:prstGeom>
          <a:solidFill>
            <a:srgbClr val="704DAA"/>
          </a:solidFill>
          <a:ln>
            <a:solidFill>
              <a:srgbClr val="70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370832"/>
            <a:ext cx="13716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334256"/>
            <a:ext cx="8412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Login, account, posting and scan actions recorded with actor and entity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001768"/>
            <a:ext cx="10561320" cy="612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5001768"/>
            <a:ext cx="1508760" cy="612648"/>
          </a:xfrm>
          <a:prstGeom prst="roundRect">
            <a:avLst>
              <a:gd name="adj" fmla="val 12000"/>
            </a:avLst>
          </a:prstGeom>
          <a:solidFill>
            <a:srgbClr val="CF4949"/>
          </a:solidFill>
          <a:ln>
            <a:solidFill>
              <a:srgbClr val="CF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175504"/>
            <a:ext cx="13716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AI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5138928"/>
            <a:ext cx="8412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No automatic posting; failures become visible; source document retained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D6D7D"/>
                </a:solidFill>
                <a:latin typeface="Aptos"/>
              </a:rPr>
              <a:t>Bills &amp; Voucher Finance  |  GST document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5D6D7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8B2D"/>
          </a:solidFill>
          <a:ln>
            <a:solidFill>
              <a:srgbClr val="E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EB8B2D"/>
                </a:solidFill>
                <a:latin typeface="Aptos"/>
              </a:rPr>
              <a:t>13  GCP 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A deployable foundation for production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62456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Terraform and Cloud Build establish repeatable infrastructure and controlled releases.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84248"/>
            <a:ext cx="2011680" cy="2103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201168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GitHub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61488" y="2258568"/>
            <a:ext cx="621792" cy="0"/>
          </a:xfrm>
          <a:prstGeom prst="line">
            <a:avLst/>
          </a:prstGeom>
          <a:ln w="25400">
            <a:solidFill>
              <a:srgbClr val="96AA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82880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704DAA"/>
          </a:solidFill>
          <a:ln>
            <a:solidFill>
              <a:srgbClr val="70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984248"/>
            <a:ext cx="2011680" cy="2103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67712"/>
            <a:ext cx="201168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Cloud Build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04688" y="2258568"/>
            <a:ext cx="621791" cy="0"/>
          </a:xfrm>
          <a:prstGeom prst="line">
            <a:avLst/>
          </a:prstGeom>
          <a:ln w="25400">
            <a:solidFill>
              <a:srgbClr val="96AA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0" y="182880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984248"/>
            <a:ext cx="2011680" cy="2103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267712"/>
            <a:ext cx="201168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Cloud Run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47888" y="2258568"/>
            <a:ext cx="621792" cy="0"/>
          </a:xfrm>
          <a:prstGeom prst="line">
            <a:avLst/>
          </a:prstGeom>
          <a:ln w="25400">
            <a:solidFill>
              <a:srgbClr val="96AA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61120" y="182880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CF4949"/>
          </a:solidFill>
          <a:ln>
            <a:solidFill>
              <a:srgbClr val="CF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984248"/>
            <a:ext cx="2011680" cy="2103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Secrets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267712"/>
            <a:ext cx="201168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Secret Manager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29000"/>
            <a:ext cx="48920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429000"/>
            <a:ext cx="109728" cy="822960"/>
          </a:xfrm>
          <a:prstGeom prst="rect">
            <a:avLst/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593592"/>
            <a:ext cx="228600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E1F35"/>
                </a:solidFill>
                <a:latin typeface="Aptos"/>
              </a:rPr>
              <a:t>BigQuery finance 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593592"/>
            <a:ext cx="20574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D6D7D"/>
                </a:solidFill>
                <a:latin typeface="Aptos"/>
              </a:rPr>
              <a:t>Operational ledger + application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3429000"/>
            <a:ext cx="48920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3429000"/>
            <a:ext cx="109728" cy="822960"/>
          </a:xfrm>
          <a:prstGeom prst="rect">
            <a:avLst/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593592"/>
            <a:ext cx="228600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E1F35"/>
                </a:solidFill>
                <a:latin typeface="Aptos"/>
              </a:rPr>
              <a:t>GCS bucket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59" y="3593592"/>
            <a:ext cx="20574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D6D7D"/>
                </a:solidFill>
                <a:latin typeface="Aptos"/>
              </a:rPr>
              <a:t>Private document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72000"/>
            <a:ext cx="48920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572000"/>
            <a:ext cx="109728" cy="822960"/>
          </a:xfrm>
          <a:prstGeom prst="rect">
            <a:avLst/>
          </a:prstGeom>
          <a:solidFill>
            <a:srgbClr val="704DAA"/>
          </a:solidFill>
          <a:ln>
            <a:solidFill>
              <a:srgbClr val="70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4736592"/>
            <a:ext cx="228600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E1F35"/>
                </a:solidFill>
                <a:latin typeface="Aptos"/>
              </a:rPr>
              <a:t>Vertex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4736592"/>
            <a:ext cx="20574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D6D7D"/>
                </a:solidFill>
                <a:latin typeface="Aptos"/>
              </a:rPr>
              <a:t>Gemini 3.8 Flash inference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4572000"/>
            <a:ext cx="48920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4572000"/>
            <a:ext cx="109728" cy="822960"/>
          </a:xfrm>
          <a:prstGeom prst="rect">
            <a:avLst/>
          </a:prstGeom>
          <a:solidFill>
            <a:srgbClr val="EB8B2D"/>
          </a:solidFill>
          <a:ln>
            <a:solidFill>
              <a:srgbClr val="E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4736592"/>
            <a:ext cx="228600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E1F35"/>
                </a:solidFill>
                <a:latin typeface="Aptos"/>
              </a:rPr>
              <a:t>BigQuery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59" y="4736592"/>
            <a:ext cx="20574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D6D7D"/>
                </a:solidFill>
                <a:latin typeface="Aptos"/>
              </a:rPr>
              <a:t>Finance analytics dataset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806440"/>
            <a:ext cx="10424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D6D7D"/>
                </a:solidFill>
                <a:latin typeface="Aptos"/>
              </a:rPr>
              <a:t>Required APIs: Cloud Run, Artifact Registry, Secret Manager, Storage, BigQuery, Eventarc, Vertex AI and logging.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D6D7D"/>
                </a:solidFill>
                <a:latin typeface="Aptos"/>
              </a:rPr>
              <a:t>Bills &amp; Voucher Finance  |  GST document intelligence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5D6D7D"/>
                </a:solidFill>
                <a:latin typeface="Aptos"/>
              </a:rPr>
              <a:t>14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26880" y="475488"/>
            <a:ext cx="2148840" cy="310896"/>
          </a:xfrm>
          <a:prstGeom prst="roundRect">
            <a:avLst/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BIGQUERY-ONLY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F70C1"/>
                </a:solidFill>
                <a:latin typeface="Aptos"/>
              </a:rPr>
              <a:t>14  DELIVERY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Sequence the work around control and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62456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Start with the reviewable core, then automate operations and expand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468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2468880" cy="502920"/>
          </a:xfrm>
          <a:prstGeom prst="roundRect">
            <a:avLst>
              <a:gd name="adj" fmla="val 12000"/>
            </a:avLst>
          </a:prstGeom>
          <a:solidFill>
            <a:srgbClr val="1F70C1"/>
          </a:solidFill>
          <a:ln>
            <a:solidFill>
              <a:srgbClr val="1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48256"/>
            <a:ext cx="246888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210312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GST bill/voucher capture
Gemini structured scan
Review + audit foundation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72968" y="3246120"/>
            <a:ext cx="256032" cy="0"/>
          </a:xfrm>
          <a:prstGeom prst="line">
            <a:avLst/>
          </a:prstGeom>
          <a:ln w="25400">
            <a:solidFill>
              <a:srgbClr val="A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1920240"/>
            <a:ext cx="2468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920240"/>
            <a:ext cx="2468880" cy="502920"/>
          </a:xfrm>
          <a:prstGeom prst="roundRect">
            <a:avLst>
              <a:gd name="adj" fmla="val 12000"/>
            </a:avLst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048256"/>
            <a:ext cx="246888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97480"/>
            <a:ext cx="210312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Event-driven processing
Approval-to-journal posting
BigQuery dashboards and alerts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1888" y="3246120"/>
            <a:ext cx="256032" cy="0"/>
          </a:xfrm>
          <a:prstGeom prst="line">
            <a:avLst/>
          </a:prstGeom>
          <a:ln w="25400">
            <a:solidFill>
              <a:srgbClr val="A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63640" y="1920240"/>
            <a:ext cx="2468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920240"/>
            <a:ext cx="2468880" cy="502920"/>
          </a:xfrm>
          <a:prstGeom prst="roundRect">
            <a:avLst>
              <a:gd name="adj" fmla="val 12000"/>
            </a:avLst>
          </a:prstGeom>
          <a:solidFill>
            <a:srgbClr val="704DAA"/>
          </a:solidFill>
          <a:ln>
            <a:solidFill>
              <a:srgbClr val="70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048256"/>
            <a:ext cx="246888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97480"/>
            <a:ext cx="210312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MCP connectors for source context
Vendor and duplicate detection
GST reconciliation workflows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50808" y="3246120"/>
            <a:ext cx="256032" cy="0"/>
          </a:xfrm>
          <a:prstGeom prst="line">
            <a:avLst/>
          </a:prstGeom>
          <a:ln w="25400">
            <a:solidFill>
              <a:srgbClr val="A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52559" y="1920240"/>
            <a:ext cx="2468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59" y="1920240"/>
            <a:ext cx="2468880" cy="502920"/>
          </a:xfrm>
          <a:prstGeom prst="roundRect">
            <a:avLst>
              <a:gd name="adj" fmla="val 12000"/>
            </a:avLst>
          </a:prstGeom>
          <a:solidFill>
            <a:srgbClr val="EB8B2D"/>
          </a:solidFill>
          <a:ln>
            <a:solidFill>
              <a:srgbClr val="E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59" y="2048256"/>
            <a:ext cx="246888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Optimize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39" y="2697480"/>
            <a:ext cx="210312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Confidence calibration
Batch processing and cost controls
Multi-entity / multi-tenant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5780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1">
                <a:solidFill>
                  <a:srgbClr val="0E1F35"/>
                </a:solidFill>
                <a:latin typeface="Aptos"/>
              </a:rPr>
              <a:t>Release gate: accuracy and auditability must improve together.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D6D7D"/>
                </a:solidFill>
                <a:latin typeface="Aptos"/>
              </a:rPr>
              <a:t>Bills &amp; Voucher Finance  |  GST document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5D6D7D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577"/>
          </a:solidFill>
          <a:ln>
            <a:solidFill>
              <a:srgbClr val="00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8577"/>
                </a:solidFill>
                <a:latin typeface="Aptos"/>
              </a:rPr>
              <a:t>15  DECISIONS AND 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Turn the foundation into an operating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62456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The repository now contains the core integration points; production rollout needs configuration, tests and workflow hardening.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713232"/>
          </a:xfrm>
          <a:prstGeom prst="roundRect">
            <a:avLst>
              <a:gd name="adj" fmla="val 12000"/>
            </a:avLst>
          </a:prstGeom>
          <a:solidFill>
            <a:srgbClr val="E2F7F4"/>
          </a:solidFill>
          <a:ln>
            <a:solidFill>
              <a:srgbClr val="E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10972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08577"/>
                </a:solidFill>
                <a:latin typeface="Aptos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920240"/>
            <a:ext cx="34290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E1F35"/>
                </a:solidFill>
                <a:latin typeface="Aptos"/>
              </a:rPr>
              <a:t>Confirm approval policy, exception thresholds and required GST fields.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5120640" cy="713232"/>
          </a:xfrm>
          <a:prstGeom prst="roundRect">
            <a:avLst>
              <a:gd name="adj" fmla="val 12000"/>
            </a:avLst>
          </a:prstGeom>
          <a:solidFill>
            <a:srgbClr val="E2F7F4"/>
          </a:solidFill>
          <a:ln>
            <a:solidFill>
              <a:srgbClr val="E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52928"/>
            <a:ext cx="10972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08577"/>
                </a:solidFill>
                <a:latin typeface="Aptos"/>
              </a:rPr>
              <a:t>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834640"/>
            <a:ext cx="34290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E1F35"/>
                </a:solidFill>
                <a:latin typeface="Aptos"/>
              </a:rPr>
              <a:t>Define chart-of-accounts mapping from approved bill/voucher types.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5120640" cy="713232"/>
          </a:xfrm>
          <a:prstGeom prst="roundRect">
            <a:avLst>
              <a:gd name="adj" fmla="val 12000"/>
            </a:avLst>
          </a:prstGeom>
          <a:solidFill>
            <a:srgbClr val="E2F7F4"/>
          </a:solidFill>
          <a:ln>
            <a:solidFill>
              <a:srgbClr val="E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67328"/>
            <a:ext cx="10972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08577"/>
                </a:solidFill>
                <a:latin typeface="Aptos"/>
              </a:rPr>
              <a:t>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749039"/>
            <a:ext cx="34290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E1F35"/>
                </a:solidFill>
                <a:latin typeface="Aptos"/>
              </a:rPr>
              <a:t>Add async/Eventarc processing and integration tests with mocked Gemini/GCP clients.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4846320" cy="2743200"/>
          </a:xfrm>
          <a:prstGeom prst="roundRect">
            <a:avLst>
              <a:gd name="adj" fmla="val 12000"/>
            </a:avLst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148840"/>
            <a:ext cx="42976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FB0B8"/>
                </a:solidFill>
                <a:latin typeface="Aptos"/>
              </a:rPr>
              <a:t>READY TO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697480"/>
            <a:ext cx="420624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Upload → Scan → Review → 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657600"/>
            <a:ext cx="42062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500" b="0">
                <a:solidFill>
                  <a:srgbClr val="CDDEEC"/>
                </a:solidFill>
                <a:latin typeface="Aptos"/>
              </a:rPr>
              <a:t>One source of evidence.
One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104241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E1F35"/>
                </a:solidFill>
                <a:latin typeface="Aptos"/>
              </a:rPr>
              <a:t>Target outcome: faster close, clearer GST compliance evidence, and safer automation.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D6D7D"/>
                </a:solidFill>
                <a:latin typeface="Aptos"/>
              </a:rPr>
              <a:t>Bills &amp; Voucher Finance  |  GST document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5D6D7D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Bills &amp; Voucher Finance Platform — Business &amp; Architecture</dc:title>
  <dc:subject>BigQuery-only GST finance platform with Gemini scanning and VECTOR_SEARCH</dc:subject>
  <dc:creator>Codex</dc:creator>
  <cp:keywords>GST, bills, vouchers, Gemini, MCP, GCP, GCS, BigQuery, finance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